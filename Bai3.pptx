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94C4C-3E28-5ADA-F20D-3313BEE65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B31FBD-A6D3-DAB7-87D5-013FA1684F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99E20F-F06A-4A4E-3F71-079C203EC2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FF5490-0D81-0067-3FF0-B8DFFD5446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1DE1CB-6405-230E-4019-48D4758E59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6B1CEF-09EA-52DA-CB5E-76A502C18C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85756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704179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256095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375908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73539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4658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76145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03186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7801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05238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08666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03507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75209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19822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53489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568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57014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76495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59048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61288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90133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3014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70901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78169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4705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12838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927985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010938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540166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629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67373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52162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370379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9744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551844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88367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19087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704422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73044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34123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586009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61111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2761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596656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453174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9982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02337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3226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55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135052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72319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16089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3581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9083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96587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10448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56834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70526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34372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364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80414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489325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99593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759550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31930164" name="Freeform 3"/>
          <p:cNvSpPr/>
          <p:nvPr/>
        </p:nvSpPr>
        <p:spPr bwMode="auto">
          <a:xfrm rot="0" flipH="0" flipV="0">
            <a:off x="10445598" y="2142670"/>
            <a:ext cx="7634584" cy="8144330"/>
          </a:xfrm>
          <a:custGeom>
            <a:avLst/>
            <a:gdLst/>
            <a:ahLst/>
            <a:cxnLst/>
            <a:rect l="l" t="t" r="r" b="b"/>
            <a:pathLst>
              <a:path w="7634584" h="8144330" fill="norm" stroke="1" extrusionOk="0">
                <a:moveTo>
                  <a:pt x="0" y="0"/>
                </a:moveTo>
                <a:lnTo>
                  <a:pt x="7634584" y="0"/>
                </a:lnTo>
                <a:lnTo>
                  <a:pt x="7634584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949471608" name="TextBox 4"/>
          <p:cNvSpPr txBox="1"/>
          <p:nvPr/>
        </p:nvSpPr>
        <p:spPr bwMode="auto">
          <a:xfrm rot="0">
            <a:off x="658368" y="793941"/>
            <a:ext cx="932688" cy="40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  <a:defRPr/>
            </a:pPr>
            <a:r>
              <a:rPr lang="en-US" sz="3050" b="1" spc="-61">
                <a:solidFill>
                  <a:srgbClr val="12E1B9"/>
                </a:solidFill>
                <a:latin typeface="Muli Bold"/>
                <a:ea typeface="Muli Bold"/>
                <a:cs typeface="Muli Bold"/>
              </a:rPr>
              <a:t>Bài 3</a:t>
            </a:r>
            <a:endParaRPr/>
          </a:p>
        </p:txBody>
      </p:sp>
      <p:sp>
        <p:nvSpPr>
          <p:cNvPr id="1918535140" name="TextBox 5"/>
          <p:cNvSpPr txBox="1"/>
          <p:nvPr/>
        </p:nvSpPr>
        <p:spPr bwMode="auto">
          <a:xfrm rot="0" flipH="0" flipV="0">
            <a:off x="658368" y="1501672"/>
            <a:ext cx="9729246" cy="377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2"/>
              </a:lnSpc>
              <a:defRPr/>
            </a:pPr>
            <a:r>
              <a:rPr lang="en-US" sz="6950" b="1" spc="-138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Pipeline làm sạch và</a:t>
            </a:r>
            <a:endParaRPr/>
          </a:p>
          <a:p>
            <a:pPr algn="l">
              <a:lnSpc>
                <a:spcPts val="7432"/>
              </a:lnSpc>
              <a:defRPr/>
            </a:pPr>
            <a:r>
              <a:rPr lang="en-US" sz="6950" b="1" spc="-138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hợp nhất đa nguồn:</a:t>
            </a:r>
            <a:endParaRPr/>
          </a:p>
          <a:p>
            <a:pPr algn="l">
              <a:lnSpc>
                <a:spcPts val="7432"/>
              </a:lnSpc>
              <a:defRPr/>
            </a:pPr>
            <a:r>
              <a:rPr lang="en-US" sz="6950" b="1" spc="-138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Ba quyết định kiến trúc </a:t>
            </a:r>
            <a:r>
              <a:rPr lang="en-US" sz="6950" b="1" spc="-137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và kiểm soát dữ liệu</a:t>
            </a:r>
            <a:endParaRPr/>
          </a:p>
        </p:txBody>
      </p:sp>
      <p:sp>
        <p:nvSpPr>
          <p:cNvPr id="1956803791" name="TextBox 6"/>
          <p:cNvSpPr txBox="1"/>
          <p:nvPr/>
        </p:nvSpPr>
        <p:spPr bwMode="auto">
          <a:xfrm rot="0">
            <a:off x="658368" y="5598215"/>
            <a:ext cx="8778240" cy="95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2"/>
              </a:lnSpc>
              <a:defRPr/>
            </a:pPr>
            <a:r>
              <a:rPr lang="en-US" sz="2550" b="1" spc="-5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Tổng hợp dữ liệu từ manifest metadata và replay JSON</a:t>
            </a:r>
            <a:endParaRPr/>
          </a:p>
          <a:p>
            <a:pPr algn="l">
              <a:lnSpc>
                <a:spcPts val="3932"/>
              </a:lnSpc>
              <a:defRPr/>
            </a:pPr>
            <a:r>
              <a:rPr lang="en-US" sz="2550" b="1" spc="-5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với 667 episode, 432.000 lượt đấu, 529.922 lệnh thị trường.</a:t>
            </a:r>
            <a:endParaRPr/>
          </a:p>
        </p:txBody>
      </p:sp>
      <p:sp>
        <p:nvSpPr>
          <p:cNvPr id="1848414557" name="TextBox 7"/>
          <p:cNvSpPr txBox="1"/>
          <p:nvPr/>
        </p:nvSpPr>
        <p:spPr bwMode="auto">
          <a:xfrm rot="0">
            <a:off x="658368" y="7192455"/>
            <a:ext cx="1517904" cy="40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  <a:defRPr/>
            </a:pPr>
            <a:r>
              <a:rPr lang="en-US" sz="3050" b="1" spc="-61">
                <a:solidFill>
                  <a:srgbClr val="12E1B9"/>
                </a:solidFill>
                <a:latin typeface="Muli Bold"/>
                <a:ea typeface="Muli Bold"/>
                <a:cs typeface="Muli Bold"/>
              </a:rPr>
              <a:t>Mục tiêu</a:t>
            </a:r>
            <a:endParaRPr/>
          </a:p>
        </p:txBody>
      </p:sp>
      <p:sp>
        <p:nvSpPr>
          <p:cNvPr id="1994816529" name="TextBox 8"/>
          <p:cNvSpPr txBox="1"/>
          <p:nvPr/>
        </p:nvSpPr>
        <p:spPr bwMode="auto">
          <a:xfrm rot="0">
            <a:off x="658368" y="7701753"/>
            <a:ext cx="4608576" cy="141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  <a:defRPr/>
            </a:pPr>
            <a:r>
              <a:rPr lang="en-US" sz="2500" b="1" spc="-49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Bảo toàn danh tính trận đấu</a:t>
            </a:r>
            <a:endParaRPr/>
          </a:p>
          <a:p>
            <a:pPr algn="l">
              <a:lnSpc>
                <a:spcPts val="3842"/>
              </a:lnSpc>
              <a:defRPr/>
            </a:pPr>
            <a:r>
              <a:rPr lang="en-US" sz="2500" b="1" spc="-49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Ngăn rò rỉ dữ liệu</a:t>
            </a:r>
            <a:endParaRPr/>
          </a:p>
          <a:p>
            <a:pPr algn="l">
              <a:lnSpc>
                <a:spcPts val="3842"/>
              </a:lnSpc>
              <a:defRPr/>
            </a:pPr>
            <a:r>
              <a:rPr lang="en-US" sz="2500" b="1" spc="-49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Phân loại chính xác bất thường</a:t>
            </a:r>
            <a:endParaRPr/>
          </a:p>
        </p:txBody>
      </p:sp>
      <p:sp>
        <p:nvSpPr>
          <p:cNvPr id="1046789364" name="TextBox 9"/>
          <p:cNvSpPr txBox="1"/>
          <p:nvPr/>
        </p:nvSpPr>
        <p:spPr bwMode="auto">
          <a:xfrm rot="0">
            <a:off x="11100816" y="1317027"/>
            <a:ext cx="1444752" cy="64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lang="en-US" sz="2050" b="1" spc="-40">
                <a:solidFill>
                  <a:srgbClr val="12E1B9"/>
                </a:solidFill>
                <a:latin typeface="Muli Bold"/>
                <a:ea typeface="Muli Bold"/>
                <a:cs typeface="Muli Bold"/>
              </a:rPr>
              <a:t>MANIFEST</a:t>
            </a:r>
            <a:endParaRPr/>
          </a:p>
          <a:p>
            <a:pPr algn="ctr">
              <a:lnSpc>
                <a:spcPts val="2657"/>
              </a:lnSpc>
              <a:defRPr/>
            </a:pPr>
            <a:r>
              <a:rPr lang="en-US" sz="2050" b="1" spc="-40">
                <a:solidFill>
                  <a:srgbClr val="12E1B9"/>
                </a:solidFill>
                <a:latin typeface="Muli Bold"/>
                <a:ea typeface="Muli Bold"/>
                <a:cs typeface="Muli Bold"/>
              </a:rPr>
              <a:t>METADATA</a:t>
            </a:r>
            <a:endParaRPr/>
          </a:p>
        </p:txBody>
      </p:sp>
      <p:sp>
        <p:nvSpPr>
          <p:cNvPr id="861848153" name="TextBox 10"/>
          <p:cNvSpPr txBox="1"/>
          <p:nvPr/>
        </p:nvSpPr>
        <p:spPr bwMode="auto">
          <a:xfrm rot="0">
            <a:off x="15654528" y="1295812"/>
            <a:ext cx="1042416" cy="69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  <a:defRPr/>
            </a:pPr>
            <a:r>
              <a:rPr lang="en-US" sz="2150" b="1" spc="-42">
                <a:solidFill>
                  <a:srgbClr val="12E1B9"/>
                </a:solidFill>
                <a:latin typeface="Muli Bold"/>
                <a:ea typeface="Muli Bold"/>
                <a:cs typeface="Muli Bold"/>
              </a:rPr>
              <a:t>REPLAY</a:t>
            </a:r>
            <a:endParaRPr/>
          </a:p>
          <a:p>
            <a:pPr algn="ctr">
              <a:lnSpc>
                <a:spcPts val="2790"/>
              </a:lnSpc>
              <a:defRPr/>
            </a:pPr>
            <a:r>
              <a:rPr lang="en-US" sz="2150" b="1" spc="-42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JSON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785499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298505844" name="TextBox 3"/>
          <p:cNvSpPr txBox="1"/>
          <p:nvPr/>
        </p:nvSpPr>
        <p:spPr bwMode="auto">
          <a:xfrm rot="0">
            <a:off x="585216" y="662678"/>
            <a:ext cx="8321039" cy="257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7"/>
              </a:lnSpc>
              <a:defRPr/>
            </a:pPr>
            <a:r>
              <a:rPr lang="en-US" sz="6300" b="1">
                <a:solidFill>
                  <a:srgbClr val="FFFFFF"/>
                </a:solidFill>
                <a:latin typeface="Muli Heavy"/>
                <a:ea typeface="Muli Heavy"/>
                <a:cs typeface="Muli Heavy"/>
              </a:rPr>
              <a:t>Quyết định 1 –</a:t>
            </a:r>
            <a:endParaRPr/>
          </a:p>
          <a:p>
            <a:pPr algn="l">
              <a:lnSpc>
                <a:spcPts val="6787"/>
              </a:lnSpc>
              <a:defRPr/>
            </a:pPr>
            <a:r>
              <a:rPr lang="en-US" sz="6300" b="1">
                <a:solidFill>
                  <a:srgbClr val="FFFFFF"/>
                </a:solidFill>
                <a:latin typeface="Muli Heavy"/>
                <a:ea typeface="Muli Heavy"/>
                <a:cs typeface="Muli Heavy"/>
              </a:rPr>
              <a:t>Join bằng </a:t>
            </a:r>
            <a:r>
              <a:rPr lang="en-US" sz="6300" b="1">
                <a:solidFill>
                  <a:srgbClr val="41B9A7"/>
                </a:solidFill>
                <a:latin typeface="Muli Heavy"/>
                <a:ea typeface="Muli Heavy"/>
                <a:cs typeface="Muli Heavy"/>
              </a:rPr>
              <a:t>episode_id</a:t>
            </a:r>
            <a:r>
              <a:rPr lang="en-US" sz="6300" b="1">
                <a:solidFill>
                  <a:srgbClr val="FFFFFF"/>
                </a:solidFill>
                <a:latin typeface="Muli Heavy"/>
                <a:ea typeface="Muli Heavy"/>
                <a:cs typeface="Muli Heavy"/>
              </a:rPr>
              <a:t> thay vì UUID id</a:t>
            </a:r>
            <a:endParaRPr/>
          </a:p>
        </p:txBody>
      </p:sp>
      <p:sp>
        <p:nvSpPr>
          <p:cNvPr id="491814803" name="TextBox 4"/>
          <p:cNvSpPr txBox="1"/>
          <p:nvPr/>
        </p:nvSpPr>
        <p:spPr bwMode="auto">
          <a:xfrm rot="0">
            <a:off x="585216" y="3657658"/>
            <a:ext cx="4901184" cy="94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  <a:defRPr/>
            </a:pP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Chọn </a:t>
            </a:r>
            <a:r>
              <a:rPr lang="en-US" sz="2550" b="1">
                <a:solidFill>
                  <a:srgbClr val="41B9A7"/>
                </a:solidFill>
                <a:latin typeface="Muli Semi-Bold"/>
                <a:ea typeface="Muli Semi-Bold"/>
                <a:cs typeface="Muli Semi-Bold"/>
              </a:rPr>
              <a:t>khóa nghiệp vụ chuẩn</a:t>
            </a: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để hợp nhất dữ liệu đa nguồn.</a:t>
            </a:r>
            <a:endParaRPr/>
          </a:p>
        </p:txBody>
      </p:sp>
      <p:sp>
        <p:nvSpPr>
          <p:cNvPr id="569805612" name="TextBox 5"/>
          <p:cNvSpPr txBox="1"/>
          <p:nvPr/>
        </p:nvSpPr>
        <p:spPr bwMode="auto">
          <a:xfrm rot="0">
            <a:off x="585216" y="5108125"/>
            <a:ext cx="5394960" cy="94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  <a:defRPr/>
            </a:pPr>
            <a:r>
              <a:rPr lang="en-US" sz="2550" b="1">
                <a:solidFill>
                  <a:srgbClr val="41B9A7"/>
                </a:solidFill>
                <a:latin typeface="Muli Semi-Bold"/>
                <a:ea typeface="Muli Semi-Bold"/>
                <a:cs typeface="Muli Semi-Bold"/>
              </a:rPr>
              <a:t>episode_id</a:t>
            </a: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 liên kết nhất quán giữa replay JSON và manifest.</a:t>
            </a:r>
            <a:endParaRPr/>
          </a:p>
        </p:txBody>
      </p:sp>
      <p:sp>
        <p:nvSpPr>
          <p:cNvPr id="210141518" name="TextBox 6"/>
          <p:cNvSpPr txBox="1"/>
          <p:nvPr/>
        </p:nvSpPr>
        <p:spPr bwMode="auto">
          <a:xfrm rot="0">
            <a:off x="585216" y="6538018"/>
            <a:ext cx="4864607" cy="94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  <a:defRPr/>
            </a:pPr>
            <a:r>
              <a:rPr lang="en-US" sz="2550" b="1">
                <a:solidFill>
                  <a:srgbClr val="41B9A7"/>
                </a:solidFill>
                <a:latin typeface="Muli Semi-Bold"/>
                <a:ea typeface="Muli Semi-Bold"/>
                <a:cs typeface="Muli Semi-Bold"/>
              </a:rPr>
              <a:t>UUID id</a:t>
            </a: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 thay đổi theo lần crawl, không tồn tại trong manifest.</a:t>
            </a:r>
            <a:endParaRPr/>
          </a:p>
        </p:txBody>
      </p:sp>
      <p:sp>
        <p:nvSpPr>
          <p:cNvPr id="514775533" name="TextBox 7"/>
          <p:cNvSpPr txBox="1"/>
          <p:nvPr/>
        </p:nvSpPr>
        <p:spPr bwMode="auto">
          <a:xfrm rot="0">
            <a:off x="585216" y="7998772"/>
            <a:ext cx="6181344" cy="94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1"/>
              </a:lnSpc>
              <a:defRPr/>
            </a:pP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Khóa nghiệp vụ </a:t>
            </a:r>
            <a:r>
              <a:rPr lang="en-US" sz="2550" b="1">
                <a:solidFill>
                  <a:srgbClr val="41B9A7"/>
                </a:solidFill>
                <a:latin typeface="Muli Semi-Bold"/>
                <a:ea typeface="Muli Semi-Bold"/>
                <a:cs typeface="Muli Semi-Bold"/>
              </a:rPr>
              <a:t>ổn định</a:t>
            </a: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 giúp</a:t>
            </a:r>
            <a:endParaRPr/>
          </a:p>
          <a:p>
            <a:pPr algn="l">
              <a:lnSpc>
                <a:spcPts val="3831"/>
              </a:lnSpc>
              <a:defRPr/>
            </a:pPr>
            <a:r>
              <a:rPr lang="en-US" sz="2550" b="1">
                <a:solidFill>
                  <a:srgbClr val="FFFFFF"/>
                </a:solidFill>
                <a:latin typeface="Muli Semi-Bold"/>
                <a:ea typeface="Muli Semi-Bold"/>
                <a:cs typeface="Muli Semi-Bold"/>
              </a:rPr>
              <a:t>tránh join nhầm và sai lệch downstream.</a:t>
            </a:r>
            <a:endParaRPr/>
          </a:p>
        </p:txBody>
      </p:sp>
      <p:sp>
        <p:nvSpPr>
          <p:cNvPr id="866216643" name="Freeform 8"/>
          <p:cNvSpPr/>
          <p:nvPr/>
        </p:nvSpPr>
        <p:spPr bwMode="auto">
          <a:xfrm rot="0" flipH="0" flipV="0">
            <a:off x="8268976" y="2350377"/>
            <a:ext cx="9373694" cy="7083928"/>
          </a:xfrm>
          <a:custGeom>
            <a:avLst/>
            <a:gdLst/>
            <a:ahLst/>
            <a:cxnLst/>
            <a:rect l="l" t="t" r="r" b="b"/>
            <a:pathLst>
              <a:path w="9373694" h="7083928" fill="norm" stroke="1" extrusionOk="0">
                <a:moveTo>
                  <a:pt x="0" y="0"/>
                </a:moveTo>
                <a:lnTo>
                  <a:pt x="9373694" y="0"/>
                </a:lnTo>
                <a:lnTo>
                  <a:pt x="9373694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71012279" name="Freeform 9"/>
          <p:cNvSpPr/>
          <p:nvPr/>
        </p:nvSpPr>
        <p:spPr bwMode="auto">
          <a:xfrm rot="0" flipH="0" flipV="0">
            <a:off x="8268976" y="2350377"/>
            <a:ext cx="9373694" cy="1082267"/>
          </a:xfrm>
          <a:custGeom>
            <a:avLst/>
            <a:gdLst/>
            <a:ahLst/>
            <a:cxnLst/>
            <a:rect l="l" t="t" r="r" b="b"/>
            <a:pathLst>
              <a:path w="9373694" h="1082267" fill="norm" stroke="1" extrusionOk="0">
                <a:moveTo>
                  <a:pt x="0" y="0"/>
                </a:moveTo>
                <a:lnTo>
                  <a:pt x="9373694" y="0"/>
                </a:lnTo>
                <a:lnTo>
                  <a:pt x="9373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488973048" name="TextBox 10"/>
          <p:cNvSpPr txBox="1"/>
          <p:nvPr/>
        </p:nvSpPr>
        <p:spPr bwMode="auto">
          <a:xfrm rot="0">
            <a:off x="8705088" y="7283040"/>
            <a:ext cx="1335024" cy="38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  <a:defRPr/>
            </a:pPr>
            <a:r>
              <a:rPr lang="en-US" sz="2200">
                <a:solidFill>
                  <a:srgbClr val="FFFFFF"/>
                </a:solidFill>
                <a:latin typeface="Muli"/>
                <a:ea typeface="Muli"/>
                <a:cs typeface="Muli"/>
              </a:rPr>
              <a:t>Tỷ lệ khớp</a:t>
            </a:r>
            <a:endParaRPr/>
          </a:p>
        </p:txBody>
      </p:sp>
      <p:sp>
        <p:nvSpPr>
          <p:cNvPr id="1518179774" name="TextBox 11"/>
          <p:cNvSpPr txBox="1"/>
          <p:nvPr/>
        </p:nvSpPr>
        <p:spPr bwMode="auto">
          <a:xfrm rot="0">
            <a:off x="10972800" y="7008876"/>
            <a:ext cx="1737360" cy="84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1"/>
              </a:lnSpc>
              <a:defRPr/>
            </a:pPr>
            <a:r>
              <a:rPr lang="en-US" sz="4950" b="1">
                <a:solidFill>
                  <a:srgbClr val="41B9A7"/>
                </a:solidFill>
                <a:latin typeface="Muli Ultra-Bold"/>
                <a:ea typeface="Muli Ultra-Bold"/>
                <a:cs typeface="Muli Ultra-Bold"/>
              </a:rPr>
              <a:t>100%</a:t>
            </a:r>
            <a:endParaRPr/>
          </a:p>
        </p:txBody>
      </p:sp>
      <p:sp>
        <p:nvSpPr>
          <p:cNvPr id="1091695712" name="TextBox 12"/>
          <p:cNvSpPr txBox="1"/>
          <p:nvPr/>
        </p:nvSpPr>
        <p:spPr bwMode="auto">
          <a:xfrm rot="0">
            <a:off x="14666976" y="7281240"/>
            <a:ext cx="2103120" cy="43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4"/>
              </a:lnSpc>
              <a:defRPr/>
            </a:pPr>
            <a:r>
              <a:rPr lang="en-US" sz="2650" b="1">
                <a:solidFill>
                  <a:srgbClr val="FFFFFF"/>
                </a:solidFill>
                <a:latin typeface="Muli Ultra-Bold"/>
                <a:ea typeface="Muli Ultra-Bold"/>
                <a:cs typeface="Muli Ultra-Bold"/>
              </a:rPr>
              <a:t>không khớp</a:t>
            </a:r>
            <a:endParaRPr/>
          </a:p>
        </p:txBody>
      </p:sp>
      <p:sp>
        <p:nvSpPr>
          <p:cNvPr id="1328914814" name="TextBox 13"/>
          <p:cNvSpPr txBox="1"/>
          <p:nvPr/>
        </p:nvSpPr>
        <p:spPr bwMode="auto">
          <a:xfrm rot="0">
            <a:off x="8595360" y="8349125"/>
            <a:ext cx="1664208" cy="65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defRPr/>
            </a:pPr>
            <a:r>
              <a:rPr lang="en-US" sz="2200">
                <a:solidFill>
                  <a:srgbClr val="FFFFFF"/>
                </a:solidFill>
                <a:latin typeface="Muli"/>
                <a:ea typeface="Muli"/>
                <a:cs typeface="Muli"/>
              </a:rPr>
              <a:t>Tồn tại trong manifest</a:t>
            </a:r>
            <a:endParaRPr/>
          </a:p>
        </p:txBody>
      </p:sp>
      <p:sp>
        <p:nvSpPr>
          <p:cNvPr id="1798854289" name="TextBox 14"/>
          <p:cNvSpPr txBox="1"/>
          <p:nvPr/>
        </p:nvSpPr>
        <p:spPr bwMode="auto">
          <a:xfrm rot="0">
            <a:off x="15179040" y="8453975"/>
            <a:ext cx="1060704" cy="43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  <a:defRPr/>
            </a:pPr>
            <a:r>
              <a:rPr lang="en-US" sz="2650" b="1">
                <a:solidFill>
                  <a:srgbClr val="FFFFFF"/>
                </a:solidFill>
                <a:latin typeface="Muli Ultra-Bold"/>
                <a:ea typeface="Muli Ultra-Bold"/>
                <a:cs typeface="Muli Ultra-Bold"/>
              </a:rPr>
              <a:t>Không</a:t>
            </a:r>
            <a:endParaRPr/>
          </a:p>
        </p:txBody>
      </p:sp>
      <p:sp>
        <p:nvSpPr>
          <p:cNvPr id="1835258257" name="TextBox 15"/>
          <p:cNvSpPr txBox="1"/>
          <p:nvPr/>
        </p:nvSpPr>
        <p:spPr bwMode="auto">
          <a:xfrm rot="0">
            <a:off x="10917936" y="2720429"/>
            <a:ext cx="3877056" cy="37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  <a:defRPr/>
            </a:pPr>
            <a:r>
              <a:rPr lang="en-US" sz="2150" b="1">
                <a:solidFill>
                  <a:srgbClr val="FFFFFF"/>
                </a:solidFill>
                <a:latin typeface="Muli Heavy"/>
                <a:ea typeface="Muli Heavy"/>
                <a:cs typeface="Muli Heavy"/>
              </a:rPr>
              <a:t>SO SÁNH KHẢ NĂNG KHỚP</a:t>
            </a:r>
            <a:endParaRPr/>
          </a:p>
        </p:txBody>
      </p:sp>
      <p:sp>
        <p:nvSpPr>
          <p:cNvPr id="1553526434" name="TextBox 16"/>
          <p:cNvSpPr txBox="1"/>
          <p:nvPr/>
        </p:nvSpPr>
        <p:spPr bwMode="auto">
          <a:xfrm rot="0">
            <a:off x="10972800" y="3645822"/>
            <a:ext cx="1444752" cy="364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lang="en-US" sz="2200" b="1">
                <a:solidFill>
                  <a:srgbClr val="41B9A7"/>
                </a:solidFill>
                <a:latin typeface="Muli Ultra-Bold"/>
                <a:ea typeface="Muli Ultra-Bold"/>
                <a:cs typeface="Muli Ultra-Bold"/>
              </a:rPr>
              <a:t>episode_id</a:t>
            </a:r>
            <a:endParaRPr/>
          </a:p>
        </p:txBody>
      </p:sp>
      <p:sp>
        <p:nvSpPr>
          <p:cNvPr id="1682907164" name="TextBox 17"/>
          <p:cNvSpPr txBox="1"/>
          <p:nvPr/>
        </p:nvSpPr>
        <p:spPr bwMode="auto">
          <a:xfrm rot="0">
            <a:off x="15124176" y="3631155"/>
            <a:ext cx="1060704" cy="38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Muli Ultra-Bold"/>
                <a:ea typeface="Muli Ultra-Bold"/>
                <a:cs typeface="Muli Ultra-Bold"/>
              </a:rPr>
              <a:t>UUID id</a:t>
            </a:r>
            <a:endParaRPr/>
          </a:p>
        </p:txBody>
      </p:sp>
      <p:sp>
        <p:nvSpPr>
          <p:cNvPr id="1443523245" name="TextBox 18"/>
          <p:cNvSpPr txBox="1"/>
          <p:nvPr/>
        </p:nvSpPr>
        <p:spPr bwMode="auto">
          <a:xfrm rot="0">
            <a:off x="10716768" y="4078312"/>
            <a:ext cx="1975104" cy="37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  <a:defRPr/>
            </a:pPr>
            <a:r>
              <a:rPr lang="en-US" sz="2150">
                <a:solidFill>
                  <a:srgbClr val="FFFFFF"/>
                </a:solidFill>
                <a:latin typeface="Muli"/>
                <a:ea typeface="Muli"/>
                <a:cs typeface="Muli"/>
              </a:rPr>
              <a:t>(filename stem)</a:t>
            </a:r>
            <a:endParaRPr/>
          </a:p>
        </p:txBody>
      </p:sp>
      <p:sp>
        <p:nvSpPr>
          <p:cNvPr id="2123855000" name="TextBox 19"/>
          <p:cNvSpPr txBox="1"/>
          <p:nvPr/>
        </p:nvSpPr>
        <p:spPr bwMode="auto">
          <a:xfrm rot="0">
            <a:off x="15435072" y="4069004"/>
            <a:ext cx="475488" cy="3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  <a:defRPr/>
            </a:pPr>
            <a:r>
              <a:rPr lang="en-US" sz="2300">
                <a:solidFill>
                  <a:srgbClr val="FFFFFF"/>
                </a:solidFill>
                <a:latin typeface="Muli"/>
                <a:ea typeface="Muli"/>
                <a:cs typeface="Muli"/>
              </a:rPr>
              <a:t>(id)</a:t>
            </a:r>
            <a:endParaRPr/>
          </a:p>
        </p:txBody>
      </p:sp>
      <p:sp>
        <p:nvSpPr>
          <p:cNvPr id="1929762883" name="TextBox 20"/>
          <p:cNvSpPr txBox="1"/>
          <p:nvPr/>
        </p:nvSpPr>
        <p:spPr bwMode="auto">
          <a:xfrm rot="0">
            <a:off x="10716768" y="5074736"/>
            <a:ext cx="2048256" cy="34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  <a:defRPr/>
            </a:pPr>
            <a:r>
              <a:rPr lang="en-US" sz="2050" b="1">
                <a:solidFill>
                  <a:srgbClr val="41B9A7"/>
                </a:solidFill>
                <a:latin typeface="Muli Ultra-Bold"/>
                <a:ea typeface="Muli Ultra-Bold"/>
                <a:cs typeface="Muli Ultra-Bold"/>
              </a:rPr>
              <a:t>= info.Episodeld</a:t>
            </a:r>
            <a:endParaRPr/>
          </a:p>
        </p:txBody>
      </p:sp>
      <p:sp>
        <p:nvSpPr>
          <p:cNvPr id="1513586422" name="TextBox 21"/>
          <p:cNvSpPr txBox="1"/>
          <p:nvPr/>
        </p:nvSpPr>
        <p:spPr bwMode="auto">
          <a:xfrm rot="0">
            <a:off x="10314432" y="6154872"/>
            <a:ext cx="2779776" cy="34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  <a:defRPr/>
            </a:pPr>
            <a:r>
              <a:rPr lang="en-US" sz="2050" b="1">
                <a:solidFill>
                  <a:srgbClr val="41B9A7"/>
                </a:solidFill>
                <a:latin typeface="Muli Ultra-Bold"/>
                <a:ea typeface="Muli Ultra-Bold"/>
                <a:cs typeface="Muli Ultra-Bold"/>
              </a:rPr>
              <a:t>= manifest.episode_id</a:t>
            </a:r>
            <a:endParaRPr/>
          </a:p>
        </p:txBody>
      </p:sp>
      <p:sp>
        <p:nvSpPr>
          <p:cNvPr id="1249938366" name="TextBox 22"/>
          <p:cNvSpPr txBox="1"/>
          <p:nvPr/>
        </p:nvSpPr>
        <p:spPr bwMode="auto">
          <a:xfrm rot="0">
            <a:off x="11521440" y="8417888"/>
            <a:ext cx="548640" cy="54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  <a:defRPr/>
            </a:pPr>
            <a:r>
              <a:rPr lang="en-US" sz="3150" b="1">
                <a:solidFill>
                  <a:srgbClr val="41B9A7"/>
                </a:solidFill>
                <a:latin typeface="Muli Ultra-Bold"/>
                <a:ea typeface="Muli Ultra-Bold"/>
                <a:cs typeface="Muli Ultra-Bold"/>
              </a:rPr>
              <a:t>Có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29116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331751756" name="TextBox 3"/>
          <p:cNvSpPr txBox="1"/>
          <p:nvPr/>
        </p:nvSpPr>
        <p:spPr bwMode="auto">
          <a:xfrm rot="0">
            <a:off x="640080" y="673728"/>
            <a:ext cx="9820656" cy="220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4"/>
              </a:lnSpc>
              <a:defRPr/>
            </a:pPr>
            <a:r>
              <a:rPr lang="en-US" sz="5300" b="1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Quyết định 2 -</a:t>
            </a:r>
            <a:endParaRPr/>
          </a:p>
          <a:p>
            <a:pPr algn="l">
              <a:lnSpc>
                <a:spcPts val="5814"/>
              </a:lnSpc>
              <a:defRPr/>
            </a:pPr>
            <a:r>
              <a:rPr lang="en-US" sz="5300" b="1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Giữ bản ghi </a:t>
            </a:r>
            <a:r>
              <a:rPr lang="en-US" sz="5300" b="1">
                <a:solidFill>
                  <a:srgbClr val="00C4CC"/>
                </a:solidFill>
                <a:latin typeface="Muli Bold"/>
                <a:ea typeface="Muli Bold"/>
                <a:cs typeface="Muli Bold"/>
              </a:rPr>
              <a:t>mới nhất,</a:t>
            </a:r>
            <a:endParaRPr/>
          </a:p>
          <a:p>
            <a:pPr algn="l">
              <a:lnSpc>
                <a:spcPts val="5814"/>
              </a:lnSpc>
              <a:defRPr/>
            </a:pPr>
            <a:r>
              <a:rPr lang="en-US" sz="5300" b="1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lưu lịch sử tránh Data Leakage</a:t>
            </a:r>
            <a:endParaRPr/>
          </a:p>
        </p:txBody>
      </p:sp>
      <p:sp>
        <p:nvSpPr>
          <p:cNvPr id="1826396375" name="TextBox 4"/>
          <p:cNvSpPr txBox="1"/>
          <p:nvPr/>
        </p:nvSpPr>
        <p:spPr bwMode="auto">
          <a:xfrm rot="0">
            <a:off x="640080" y="3439805"/>
            <a:ext cx="4590288" cy="81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  <a:defRPr/>
            </a:pPr>
            <a:r>
              <a:rPr lang="en-US" sz="2350">
                <a:solidFill>
                  <a:srgbClr val="00C4CC"/>
                </a:solidFill>
                <a:latin typeface="Muli"/>
                <a:ea typeface="Muli"/>
                <a:cs typeface="Muli"/>
              </a:rPr>
              <a:t>Episode</a:t>
            </a:r>
            <a:r>
              <a:rPr lang="en-US" sz="2350">
                <a:solidFill>
                  <a:srgbClr val="FFFFFF"/>
                </a:solidFill>
                <a:latin typeface="Muli"/>
                <a:ea typeface="Muli"/>
                <a:cs typeface="Muli"/>
              </a:rPr>
              <a:t> xuất hiện nhiều lần trong manifesto theo ngày crawl.</a:t>
            </a:r>
            <a:endParaRPr/>
          </a:p>
        </p:txBody>
      </p:sp>
      <p:sp>
        <p:nvSpPr>
          <p:cNvPr id="396087639" name="TextBox 5"/>
          <p:cNvSpPr txBox="1"/>
          <p:nvPr/>
        </p:nvSpPr>
        <p:spPr bwMode="auto">
          <a:xfrm rot="0">
            <a:off x="640080" y="4779793"/>
            <a:ext cx="5522976" cy="1738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8"/>
              </a:lnSpc>
              <a:defRPr/>
            </a:pP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Chọn bản ghi có </a:t>
            </a:r>
            <a:r>
              <a:rPr lang="en-US" sz="2550">
                <a:solidFill>
                  <a:srgbClr val="00C4CC"/>
                </a:solidFill>
                <a:latin typeface="Muli"/>
                <a:ea typeface="Muli"/>
                <a:cs typeface="Muli"/>
              </a:rPr>
              <a:t>create_time mới nhất</a:t>
            </a: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 và bổ sung thông tin lịch sử: </a:t>
            </a:r>
            <a:r>
              <a:rPr lang="en-US" sz="2550">
                <a:solidFill>
                  <a:srgbClr val="00C4CC"/>
                </a:solidFill>
                <a:latin typeface="Muli"/>
                <a:ea typeface="Muli"/>
                <a:cs typeface="Muli"/>
              </a:rPr>
              <a:t>first_seen_date, lastseen_date,</a:t>
            </a: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 </a:t>
            </a:r>
            <a:r>
              <a:rPr lang="en-US" sz="2550">
                <a:solidFill>
                  <a:srgbClr val="00C4CC"/>
                </a:solidFill>
                <a:latin typeface="Muli"/>
                <a:ea typeface="Muli"/>
                <a:cs typeface="Muli"/>
              </a:rPr>
              <a:t>manifest occurrences, source_count.</a:t>
            </a:r>
            <a:endParaRPr/>
          </a:p>
        </p:txBody>
      </p:sp>
      <p:sp>
        <p:nvSpPr>
          <p:cNvPr id="26418113" name="TextBox 6"/>
          <p:cNvSpPr txBox="1"/>
          <p:nvPr/>
        </p:nvSpPr>
        <p:spPr bwMode="auto">
          <a:xfrm rot="0">
            <a:off x="640080" y="6958654"/>
            <a:ext cx="4352544" cy="87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  <a:defRPr/>
            </a:pPr>
            <a:r>
              <a:rPr lang="en-US" sz="2550">
                <a:solidFill>
                  <a:srgbClr val="00C4CC"/>
                </a:solidFill>
                <a:latin typeface="Muli"/>
                <a:ea typeface="Muli"/>
                <a:cs typeface="Muli"/>
              </a:rPr>
              <a:t>Không dùng dữ liệu tương lai</a:t>
            </a: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 cho quá khứ.</a:t>
            </a:r>
            <a:endParaRPr/>
          </a:p>
        </p:txBody>
      </p:sp>
      <p:sp>
        <p:nvSpPr>
          <p:cNvPr id="1238786592" name="TextBox 7"/>
          <p:cNvSpPr txBox="1"/>
          <p:nvPr/>
        </p:nvSpPr>
        <p:spPr bwMode="auto">
          <a:xfrm rot="0">
            <a:off x="640080" y="8285677"/>
            <a:ext cx="4096512" cy="87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  <a:defRPr/>
            </a:pP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Ghi lại mọi bản trùng trong </a:t>
            </a:r>
            <a:r>
              <a:rPr lang="en-US" sz="2550">
                <a:solidFill>
                  <a:srgbClr val="00C4CC"/>
                </a:solidFill>
                <a:latin typeface="Muli"/>
                <a:ea typeface="Muli"/>
                <a:cs typeface="Muli"/>
              </a:rPr>
              <a:t>duplicate_trace.csv.</a:t>
            </a:r>
            <a:endParaRPr/>
          </a:p>
        </p:txBody>
      </p:sp>
      <p:sp>
        <p:nvSpPr>
          <p:cNvPr id="752529200" name="TextBox 8"/>
          <p:cNvSpPr txBox="1"/>
          <p:nvPr/>
        </p:nvSpPr>
        <p:spPr bwMode="auto">
          <a:xfrm rot="0">
            <a:off x="8266176" y="3078826"/>
            <a:ext cx="1536192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Crawl ngày 1</a:t>
            </a:r>
            <a:endParaRPr/>
          </a:p>
        </p:txBody>
      </p:sp>
      <p:sp>
        <p:nvSpPr>
          <p:cNvPr id="1256328120" name="TextBox 9"/>
          <p:cNvSpPr txBox="1"/>
          <p:nvPr/>
        </p:nvSpPr>
        <p:spPr bwMode="auto">
          <a:xfrm rot="0">
            <a:off x="10552176" y="3078826"/>
            <a:ext cx="1536192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Crawl ngày 2</a:t>
            </a:r>
            <a:endParaRPr/>
          </a:p>
        </p:txBody>
      </p:sp>
      <p:sp>
        <p:nvSpPr>
          <p:cNvPr id="1754913630" name="TextBox 10"/>
          <p:cNvSpPr txBox="1"/>
          <p:nvPr/>
        </p:nvSpPr>
        <p:spPr bwMode="auto">
          <a:xfrm rot="0">
            <a:off x="12947904" y="3078826"/>
            <a:ext cx="1536192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Crawl ngày 3</a:t>
            </a:r>
            <a:endParaRPr/>
          </a:p>
        </p:txBody>
      </p:sp>
      <p:sp>
        <p:nvSpPr>
          <p:cNvPr id="1229114267" name="TextBox 11"/>
          <p:cNvSpPr txBox="1"/>
          <p:nvPr/>
        </p:nvSpPr>
        <p:spPr bwMode="auto">
          <a:xfrm rot="0">
            <a:off x="15563088" y="3078826"/>
            <a:ext cx="896112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Hiện tại</a:t>
            </a:r>
            <a:endParaRPr/>
          </a:p>
        </p:txBody>
      </p:sp>
      <p:sp>
        <p:nvSpPr>
          <p:cNvPr id="1916214933" name="Freeform 12"/>
          <p:cNvSpPr/>
          <p:nvPr/>
        </p:nvSpPr>
        <p:spPr bwMode="auto">
          <a:xfrm rot="0" flipH="0" flipV="0">
            <a:off x="8706488" y="3421712"/>
            <a:ext cx="8717426" cy="655919"/>
          </a:xfrm>
          <a:custGeom>
            <a:avLst/>
            <a:gdLst/>
            <a:ahLst/>
            <a:cxnLst/>
            <a:rect l="l" t="t" r="r" b="b"/>
            <a:pathLst>
              <a:path w="8717426" h="655919" fill="norm" stroke="1" extrusionOk="0">
                <a:moveTo>
                  <a:pt x="0" y="0"/>
                </a:moveTo>
                <a:lnTo>
                  <a:pt x="8717426" y="0"/>
                </a:lnTo>
                <a:lnTo>
                  <a:pt x="871742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336759082" name="Freeform 13"/>
          <p:cNvSpPr/>
          <p:nvPr/>
        </p:nvSpPr>
        <p:spPr bwMode="auto">
          <a:xfrm rot="0" flipH="0" flipV="0">
            <a:off x="7831464" y="4285339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 fill="norm" stroke="1" extrusionOk="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509369978" name="TextBox 14"/>
          <p:cNvSpPr txBox="1"/>
          <p:nvPr/>
        </p:nvSpPr>
        <p:spPr bwMode="auto">
          <a:xfrm rot="0">
            <a:off x="8156448" y="4560154"/>
            <a:ext cx="877824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Bản ghi</a:t>
            </a:r>
            <a:endParaRPr/>
          </a:p>
        </p:txBody>
      </p:sp>
      <p:sp>
        <p:nvSpPr>
          <p:cNvPr id="492272922" name="Freeform 15"/>
          <p:cNvSpPr/>
          <p:nvPr/>
        </p:nvSpPr>
        <p:spPr bwMode="auto">
          <a:xfrm rot="0" flipH="0" flipV="0">
            <a:off x="10008086" y="4285339"/>
            <a:ext cx="2406316" cy="3651284"/>
          </a:xfrm>
          <a:custGeom>
            <a:avLst/>
            <a:gdLst/>
            <a:ahLst/>
            <a:cxnLst/>
            <a:rect l="l" t="t" r="r" b="b"/>
            <a:pathLst>
              <a:path w="2406316" h="3651284" fill="norm" stroke="1" extrusionOk="0">
                <a:moveTo>
                  <a:pt x="0" y="0"/>
                </a:moveTo>
                <a:lnTo>
                  <a:pt x="2406316" y="0"/>
                </a:lnTo>
                <a:lnTo>
                  <a:pt x="240631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485012432" name="TextBox 16"/>
          <p:cNvSpPr txBox="1"/>
          <p:nvPr/>
        </p:nvSpPr>
        <p:spPr bwMode="auto">
          <a:xfrm rot="0">
            <a:off x="10442448" y="4560154"/>
            <a:ext cx="877824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Bản ghi</a:t>
            </a:r>
            <a:endParaRPr/>
          </a:p>
        </p:txBody>
      </p:sp>
      <p:sp>
        <p:nvSpPr>
          <p:cNvPr id="899693865" name="Freeform 17"/>
          <p:cNvSpPr/>
          <p:nvPr/>
        </p:nvSpPr>
        <p:spPr bwMode="auto">
          <a:xfrm rot="0" flipH="0" flipV="0">
            <a:off x="12403464" y="4285339"/>
            <a:ext cx="2187560" cy="3651284"/>
          </a:xfrm>
          <a:custGeom>
            <a:avLst/>
            <a:gdLst/>
            <a:ahLst/>
            <a:cxnLst/>
            <a:rect l="l" t="t" r="r" b="b"/>
            <a:pathLst>
              <a:path w="2187560" h="3651284" fill="norm" stroke="1" extrusionOk="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851489849" name="TextBox 18"/>
          <p:cNvSpPr txBox="1"/>
          <p:nvPr/>
        </p:nvSpPr>
        <p:spPr bwMode="auto">
          <a:xfrm rot="0">
            <a:off x="12728448" y="4560154"/>
            <a:ext cx="877824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Bản ghi</a:t>
            </a:r>
            <a:endParaRPr/>
          </a:p>
        </p:txBody>
      </p:sp>
      <p:sp>
        <p:nvSpPr>
          <p:cNvPr id="2015598200" name="Freeform 19"/>
          <p:cNvSpPr/>
          <p:nvPr/>
        </p:nvSpPr>
        <p:spPr bwMode="auto">
          <a:xfrm rot="0" flipH="0" flipV="0">
            <a:off x="14580086" y="4285339"/>
            <a:ext cx="2843828" cy="3651284"/>
          </a:xfrm>
          <a:custGeom>
            <a:avLst/>
            <a:gdLst/>
            <a:ahLst/>
            <a:cxnLst/>
            <a:rect l="l" t="t" r="r" b="b"/>
            <a:pathLst>
              <a:path w="2843828" h="3651284" fill="norm" stroke="1" extrusionOk="0">
                <a:moveTo>
                  <a:pt x="0" y="0"/>
                </a:moveTo>
                <a:lnTo>
                  <a:pt x="2843828" y="0"/>
                </a:lnTo>
                <a:lnTo>
                  <a:pt x="284382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101012117" name="TextBox 20"/>
          <p:cNvSpPr txBox="1"/>
          <p:nvPr/>
        </p:nvSpPr>
        <p:spPr bwMode="auto">
          <a:xfrm rot="0">
            <a:off x="15069312" y="4560154"/>
            <a:ext cx="2011680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Bản ghi được giữ</a:t>
            </a:r>
            <a:endParaRPr/>
          </a:p>
        </p:txBody>
      </p:sp>
      <p:sp>
        <p:nvSpPr>
          <p:cNvPr id="1976612649" name="Freeform 21"/>
          <p:cNvSpPr/>
          <p:nvPr/>
        </p:nvSpPr>
        <p:spPr bwMode="auto">
          <a:xfrm rot="0" flipH="0" flipV="0">
            <a:off x="9789330" y="578302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 fill="norm" stroke="1" extrusionOk="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>
              <a:fillRect l="0" t="0" r="0" b="0"/>
            </a:stretch>
          </a:blipFill>
        </p:spPr>
      </p:sp>
      <p:sp>
        <p:nvSpPr>
          <p:cNvPr id="29151307" name="Freeform 22"/>
          <p:cNvSpPr/>
          <p:nvPr/>
        </p:nvSpPr>
        <p:spPr bwMode="auto">
          <a:xfrm rot="0" flipH="0" flipV="0">
            <a:off x="12184708" y="578302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 fill="norm" stroke="1" extrusionOk="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</p:sp>
      <p:sp>
        <p:nvSpPr>
          <p:cNvPr id="388318871" name="Freeform 23"/>
          <p:cNvSpPr/>
          <p:nvPr/>
        </p:nvSpPr>
        <p:spPr bwMode="auto">
          <a:xfrm rot="0" flipH="0" flipV="0">
            <a:off x="15892622" y="7707051"/>
            <a:ext cx="218756" cy="655919"/>
          </a:xfrm>
          <a:custGeom>
            <a:avLst/>
            <a:gdLst/>
            <a:ahLst/>
            <a:cxnLst/>
            <a:rect l="l" t="t" r="r" b="b"/>
            <a:pathLst>
              <a:path w="218756" h="655919" fill="norm" stroke="1" extrusionOk="0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>
              <a:fillRect l="0" t="0" r="0" b="0"/>
            </a:stretch>
          </a:blipFill>
        </p:spPr>
      </p:sp>
      <p:sp>
        <p:nvSpPr>
          <p:cNvPr id="1477825586" name="Freeform 24"/>
          <p:cNvSpPr/>
          <p:nvPr/>
        </p:nvSpPr>
        <p:spPr bwMode="auto">
          <a:xfrm rot="0" flipH="0" flipV="0">
            <a:off x="7831464" y="8133399"/>
            <a:ext cx="9592450" cy="1727253"/>
          </a:xfrm>
          <a:custGeom>
            <a:avLst/>
            <a:gdLst/>
            <a:ahLst/>
            <a:cxnLst/>
            <a:rect l="l" t="t" r="r" b="b"/>
            <a:pathLst>
              <a:path w="9592450" h="1727254" fill="norm" stroke="1" extrusionOk="0">
                <a:moveTo>
                  <a:pt x="0" y="0"/>
                </a:moveTo>
                <a:lnTo>
                  <a:pt x="9592450" y="0"/>
                </a:lnTo>
                <a:lnTo>
                  <a:pt x="9592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/>
            <a:stretch>
              <a:fillRect l="0" t="0" r="0" b="0"/>
            </a:stretch>
          </a:blipFill>
        </p:spPr>
      </p:sp>
      <p:sp>
        <p:nvSpPr>
          <p:cNvPr id="1124211798" name="TextBox 25"/>
          <p:cNvSpPr txBox="1"/>
          <p:nvPr/>
        </p:nvSpPr>
        <p:spPr bwMode="auto">
          <a:xfrm rot="0">
            <a:off x="8156448" y="5249383"/>
            <a:ext cx="1389888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create_time</a:t>
            </a:r>
            <a:endParaRPr/>
          </a:p>
        </p:txBody>
      </p:sp>
      <p:sp>
        <p:nvSpPr>
          <p:cNvPr id="2063251941" name="TextBox 26"/>
          <p:cNvSpPr txBox="1"/>
          <p:nvPr/>
        </p:nvSpPr>
        <p:spPr bwMode="auto">
          <a:xfrm rot="0">
            <a:off x="8156448" y="5677315"/>
            <a:ext cx="1389888" cy="70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2025-05-01</a:t>
            </a:r>
            <a:endParaRPr/>
          </a:p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08:15</a:t>
            </a:r>
            <a:endParaRPr/>
          </a:p>
        </p:txBody>
      </p:sp>
      <p:sp>
        <p:nvSpPr>
          <p:cNvPr id="1918928061" name="TextBox 27"/>
          <p:cNvSpPr txBox="1"/>
          <p:nvPr/>
        </p:nvSpPr>
        <p:spPr bwMode="auto">
          <a:xfrm rot="0">
            <a:off x="10442448" y="5249383"/>
            <a:ext cx="1389888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create_time</a:t>
            </a:r>
            <a:endParaRPr/>
          </a:p>
        </p:txBody>
      </p:sp>
      <p:sp>
        <p:nvSpPr>
          <p:cNvPr id="1544475043" name="TextBox 28"/>
          <p:cNvSpPr txBox="1"/>
          <p:nvPr/>
        </p:nvSpPr>
        <p:spPr bwMode="auto">
          <a:xfrm rot="0">
            <a:off x="10442448" y="5677315"/>
            <a:ext cx="1389888" cy="70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2025-05-02</a:t>
            </a:r>
            <a:endParaRPr/>
          </a:p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09:42</a:t>
            </a:r>
            <a:endParaRPr/>
          </a:p>
        </p:txBody>
      </p:sp>
      <p:sp>
        <p:nvSpPr>
          <p:cNvPr id="2032004410" name="TextBox 29"/>
          <p:cNvSpPr txBox="1"/>
          <p:nvPr/>
        </p:nvSpPr>
        <p:spPr bwMode="auto">
          <a:xfrm rot="0">
            <a:off x="12728448" y="5249383"/>
            <a:ext cx="1389888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create_time</a:t>
            </a:r>
            <a:endParaRPr/>
          </a:p>
        </p:txBody>
      </p:sp>
      <p:sp>
        <p:nvSpPr>
          <p:cNvPr id="701638517" name="TextBox 30"/>
          <p:cNvSpPr txBox="1"/>
          <p:nvPr/>
        </p:nvSpPr>
        <p:spPr bwMode="auto">
          <a:xfrm rot="0">
            <a:off x="12728448" y="5677315"/>
            <a:ext cx="1389888" cy="70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2025-05-03</a:t>
            </a:r>
            <a:endParaRPr/>
          </a:p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10:30</a:t>
            </a:r>
            <a:endParaRPr/>
          </a:p>
        </p:txBody>
      </p:sp>
      <p:sp>
        <p:nvSpPr>
          <p:cNvPr id="1404458805" name="TextBox 31"/>
          <p:cNvSpPr txBox="1"/>
          <p:nvPr/>
        </p:nvSpPr>
        <p:spPr bwMode="auto">
          <a:xfrm rot="0">
            <a:off x="15069312" y="5249383"/>
            <a:ext cx="1389888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create_time</a:t>
            </a:r>
            <a:endParaRPr/>
          </a:p>
        </p:txBody>
      </p:sp>
      <p:sp>
        <p:nvSpPr>
          <p:cNvPr id="772508492" name="TextBox 32"/>
          <p:cNvSpPr txBox="1"/>
          <p:nvPr/>
        </p:nvSpPr>
        <p:spPr bwMode="auto">
          <a:xfrm rot="0">
            <a:off x="15069312" y="5677315"/>
            <a:ext cx="1389888" cy="70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2025-05-04</a:t>
            </a:r>
            <a:endParaRPr/>
          </a:p>
          <a:p>
            <a:pPr algn="l">
              <a:lnSpc>
                <a:spcPts val="285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11:05</a:t>
            </a:r>
            <a:endParaRPr/>
          </a:p>
        </p:txBody>
      </p:sp>
      <p:sp>
        <p:nvSpPr>
          <p:cNvPr id="339501538" name="TextBox 33"/>
          <p:cNvSpPr txBox="1"/>
          <p:nvPr/>
        </p:nvSpPr>
        <p:spPr bwMode="auto">
          <a:xfrm rot="0">
            <a:off x="8156448" y="6885016"/>
            <a:ext cx="76809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nguồn</a:t>
            </a:r>
            <a:endParaRPr/>
          </a:p>
        </p:txBody>
      </p:sp>
      <p:sp>
        <p:nvSpPr>
          <p:cNvPr id="1261517681" name="TextBox 34"/>
          <p:cNvSpPr txBox="1"/>
          <p:nvPr/>
        </p:nvSpPr>
        <p:spPr bwMode="auto">
          <a:xfrm rot="0">
            <a:off x="8156448" y="7275922"/>
            <a:ext cx="182880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A</a:t>
            </a:r>
            <a:endParaRPr/>
          </a:p>
        </p:txBody>
      </p:sp>
      <p:sp>
        <p:nvSpPr>
          <p:cNvPr id="869301725" name="TextBox 35"/>
          <p:cNvSpPr txBox="1"/>
          <p:nvPr/>
        </p:nvSpPr>
        <p:spPr bwMode="auto">
          <a:xfrm rot="0">
            <a:off x="10442448" y="6885016"/>
            <a:ext cx="76809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nguồn</a:t>
            </a:r>
            <a:endParaRPr/>
          </a:p>
        </p:txBody>
      </p:sp>
      <p:sp>
        <p:nvSpPr>
          <p:cNvPr id="1136937104" name="TextBox 36"/>
          <p:cNvSpPr txBox="1"/>
          <p:nvPr/>
        </p:nvSpPr>
        <p:spPr bwMode="auto">
          <a:xfrm rot="0">
            <a:off x="10442448" y="7309321"/>
            <a:ext cx="438912" cy="2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Muli"/>
                <a:ea typeface="Muli"/>
                <a:cs typeface="Muli"/>
              </a:rPr>
              <a:t>A, B</a:t>
            </a:r>
            <a:endParaRPr/>
          </a:p>
        </p:txBody>
      </p:sp>
      <p:sp>
        <p:nvSpPr>
          <p:cNvPr id="131786401" name="TextBox 37"/>
          <p:cNvSpPr txBox="1"/>
          <p:nvPr/>
        </p:nvSpPr>
        <p:spPr bwMode="auto">
          <a:xfrm rot="0">
            <a:off x="12728448" y="6885016"/>
            <a:ext cx="76809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nguồn</a:t>
            </a:r>
            <a:endParaRPr/>
          </a:p>
        </p:txBody>
      </p:sp>
      <p:sp>
        <p:nvSpPr>
          <p:cNvPr id="953374856" name="TextBox 38"/>
          <p:cNvSpPr txBox="1"/>
          <p:nvPr/>
        </p:nvSpPr>
        <p:spPr bwMode="auto">
          <a:xfrm rot="0">
            <a:off x="12728448" y="7275922"/>
            <a:ext cx="822960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A, B, C</a:t>
            </a:r>
            <a:endParaRPr/>
          </a:p>
        </p:txBody>
      </p:sp>
      <p:sp>
        <p:nvSpPr>
          <p:cNvPr id="593661160" name="TextBox 39"/>
          <p:cNvSpPr txBox="1"/>
          <p:nvPr/>
        </p:nvSpPr>
        <p:spPr bwMode="auto">
          <a:xfrm rot="0">
            <a:off x="15069312" y="6885016"/>
            <a:ext cx="76809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nguồn</a:t>
            </a:r>
            <a:endParaRPr/>
          </a:p>
        </p:txBody>
      </p:sp>
      <p:sp>
        <p:nvSpPr>
          <p:cNvPr id="744226261" name="TextBox 40"/>
          <p:cNvSpPr txBox="1"/>
          <p:nvPr/>
        </p:nvSpPr>
        <p:spPr bwMode="auto">
          <a:xfrm rot="0">
            <a:off x="15069312" y="7275922"/>
            <a:ext cx="113385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A, B, C, D</a:t>
            </a:r>
            <a:endParaRPr/>
          </a:p>
        </p:txBody>
      </p:sp>
      <p:sp>
        <p:nvSpPr>
          <p:cNvPr id="762507484" name="TextBox 41"/>
          <p:cNvSpPr txBox="1"/>
          <p:nvPr/>
        </p:nvSpPr>
        <p:spPr bwMode="auto">
          <a:xfrm rot="0">
            <a:off x="8229600" y="8613232"/>
            <a:ext cx="177393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first_seen_date</a:t>
            </a:r>
            <a:endParaRPr/>
          </a:p>
        </p:txBody>
      </p:sp>
      <p:sp>
        <p:nvSpPr>
          <p:cNvPr id="439431583" name="TextBox 42"/>
          <p:cNvSpPr txBox="1"/>
          <p:nvPr/>
        </p:nvSpPr>
        <p:spPr bwMode="auto">
          <a:xfrm rot="0">
            <a:off x="8284464" y="9018617"/>
            <a:ext cx="1389888" cy="31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2025-05-01</a:t>
            </a:r>
            <a:endParaRPr/>
          </a:p>
        </p:txBody>
      </p:sp>
      <p:sp>
        <p:nvSpPr>
          <p:cNvPr id="1271043800" name="TextBox 43"/>
          <p:cNvSpPr txBox="1"/>
          <p:nvPr/>
        </p:nvSpPr>
        <p:spPr bwMode="auto">
          <a:xfrm rot="0">
            <a:off x="10607040" y="8613232"/>
            <a:ext cx="1773936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lastseen_date</a:t>
            </a:r>
            <a:endParaRPr/>
          </a:p>
        </p:txBody>
      </p:sp>
      <p:sp>
        <p:nvSpPr>
          <p:cNvPr id="1993287640" name="TextBox 44"/>
          <p:cNvSpPr txBox="1"/>
          <p:nvPr/>
        </p:nvSpPr>
        <p:spPr bwMode="auto">
          <a:xfrm rot="0">
            <a:off x="10680192" y="9018617"/>
            <a:ext cx="1389888" cy="31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defRPr/>
            </a:pPr>
            <a:r>
              <a:rPr lang="en-US" sz="1900">
                <a:solidFill>
                  <a:srgbClr val="FFFFFF"/>
                </a:solidFill>
                <a:latin typeface="Muli"/>
                <a:ea typeface="Muli"/>
                <a:cs typeface="Muli"/>
              </a:rPr>
              <a:t>2025-05-04</a:t>
            </a:r>
            <a:endParaRPr/>
          </a:p>
        </p:txBody>
      </p:sp>
      <p:sp>
        <p:nvSpPr>
          <p:cNvPr id="1848180887" name="TextBox 45"/>
          <p:cNvSpPr txBox="1"/>
          <p:nvPr/>
        </p:nvSpPr>
        <p:spPr bwMode="auto">
          <a:xfrm rot="0">
            <a:off x="12984480" y="8595961"/>
            <a:ext cx="1536192" cy="52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7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manifest occurrences</a:t>
            </a:r>
            <a:endParaRPr/>
          </a:p>
        </p:txBody>
      </p:sp>
      <p:sp>
        <p:nvSpPr>
          <p:cNvPr id="1093360583" name="TextBox 46"/>
          <p:cNvSpPr txBox="1"/>
          <p:nvPr/>
        </p:nvSpPr>
        <p:spPr bwMode="auto">
          <a:xfrm rot="0">
            <a:off x="15233904" y="8613232"/>
            <a:ext cx="1536192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00C4CC"/>
                </a:solidFill>
                <a:latin typeface="Muli"/>
                <a:ea typeface="Muli"/>
                <a:cs typeface="Muli"/>
              </a:rPr>
              <a:t>source_count</a:t>
            </a:r>
            <a:endParaRPr/>
          </a:p>
        </p:txBody>
      </p:sp>
      <p:sp>
        <p:nvSpPr>
          <p:cNvPr id="567509902" name="TextBox 47"/>
          <p:cNvSpPr txBox="1"/>
          <p:nvPr/>
        </p:nvSpPr>
        <p:spPr bwMode="auto">
          <a:xfrm rot="0">
            <a:off x="15892272" y="9004138"/>
            <a:ext cx="182880" cy="3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  <a:defRPr/>
            </a:pPr>
            <a:r>
              <a:rPr lang="en-US" sz="1950">
                <a:solidFill>
                  <a:srgbClr val="FFFFFF"/>
                </a:solidFill>
                <a:latin typeface="Muli"/>
                <a:ea typeface="Muli"/>
                <a:cs typeface="Muli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7872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498841434" name="TextBox 3"/>
          <p:cNvSpPr txBox="1"/>
          <p:nvPr/>
        </p:nvSpPr>
        <p:spPr bwMode="auto">
          <a:xfrm rot="0">
            <a:off x="676656" y="1010353"/>
            <a:ext cx="8156448" cy="253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  <a:defRPr/>
            </a:pPr>
            <a:r>
              <a:rPr lang="en-US" sz="6600" b="1" spc="-132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Quyết định 3 –</a:t>
            </a:r>
            <a:endParaRPr/>
          </a:p>
          <a:p>
            <a:pPr algn="l">
              <a:lnSpc>
                <a:spcPts val="6623"/>
              </a:lnSpc>
              <a:defRPr/>
            </a:pPr>
            <a:r>
              <a:rPr lang="en-US" sz="6600" b="1" spc="-132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Phân loại lỗi kỹ thuật</a:t>
            </a:r>
            <a:endParaRPr/>
          </a:p>
          <a:p>
            <a:pPr algn="l">
              <a:lnSpc>
                <a:spcPts val="6623"/>
              </a:lnSpc>
              <a:defRPr/>
            </a:pPr>
            <a:r>
              <a:rPr lang="en-US" sz="6600" b="1" spc="-132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và </a:t>
            </a:r>
            <a:r>
              <a:rPr lang="en-US" sz="6600" b="1" spc="-132">
                <a:solidFill>
                  <a:srgbClr val="42C0A8"/>
                </a:solidFill>
                <a:latin typeface="Muli Bold"/>
                <a:ea typeface="Muli Bold"/>
                <a:cs typeface="Muli Bold"/>
              </a:rPr>
              <a:t>Outlier</a:t>
            </a:r>
            <a:r>
              <a:rPr lang="en-US" sz="6600" b="1" spc="-132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 thống kê</a:t>
            </a:r>
            <a:endParaRPr/>
          </a:p>
        </p:txBody>
      </p:sp>
      <p:sp>
        <p:nvSpPr>
          <p:cNvPr id="1360751218" name="TextBox 4"/>
          <p:cNvSpPr txBox="1"/>
          <p:nvPr/>
        </p:nvSpPr>
        <p:spPr bwMode="auto">
          <a:xfrm rot="0">
            <a:off x="980841" y="7800195"/>
            <a:ext cx="5779008" cy="1031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9"/>
              </a:lnSpc>
              <a:defRPr/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</a:rPr>
              <a:t>Kết quả: </a:t>
            </a:r>
            <a:r>
              <a:rPr lang="en-US" sz="3000" b="1">
                <a:solidFill>
                  <a:srgbClr val="42C0A8"/>
                </a:solidFill>
                <a:latin typeface="Muli Bold"/>
                <a:ea typeface="Muli Bold"/>
                <a:cs typeface="Muli Bold"/>
              </a:rPr>
              <a:t>24 outlier</a:t>
            </a: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</a:rPr>
              <a:t> thống kê,</a:t>
            </a:r>
            <a:endParaRPr/>
          </a:p>
          <a:p>
            <a:pPr algn="l">
              <a:lnSpc>
                <a:spcPts val="4169"/>
              </a:lnSpc>
              <a:defRPr/>
            </a:pPr>
            <a:r>
              <a:rPr lang="en-US" sz="3000" b="1">
                <a:solidFill>
                  <a:srgbClr val="42C0A8"/>
                </a:solidFill>
                <a:latin typeface="Muli Bold"/>
                <a:ea typeface="Muli Bold"/>
                <a:cs typeface="Muli Bold"/>
              </a:rPr>
              <a:t>O</a:t>
            </a: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</a:rPr>
              <a:t> trường hợp chỉ cờ thống kê.</a:t>
            </a:r>
            <a:endParaRPr/>
          </a:p>
        </p:txBody>
      </p:sp>
      <p:sp>
        <p:nvSpPr>
          <p:cNvPr id="480010974" name="Freeform 5"/>
          <p:cNvSpPr/>
          <p:nvPr/>
        </p:nvSpPr>
        <p:spPr bwMode="auto">
          <a:xfrm rot="0" flipH="0" flipV="0">
            <a:off x="7612708" y="2142670"/>
            <a:ext cx="10248718" cy="6865288"/>
          </a:xfrm>
          <a:custGeom>
            <a:avLst/>
            <a:gdLst/>
            <a:ahLst/>
            <a:cxnLst/>
            <a:rect l="l" t="t" r="r" b="b"/>
            <a:pathLst>
              <a:path w="10248718" h="6865288" fill="norm" stroke="1" extrusionOk="0">
                <a:moveTo>
                  <a:pt x="0" y="0"/>
                </a:moveTo>
                <a:lnTo>
                  <a:pt x="10248718" y="0"/>
                </a:lnTo>
                <a:lnTo>
                  <a:pt x="10248718" y="6865287"/>
                </a:lnTo>
                <a:lnTo>
                  <a:pt x="0" y="6865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01090769" name="Freeform 6"/>
          <p:cNvSpPr/>
          <p:nvPr/>
        </p:nvSpPr>
        <p:spPr bwMode="auto">
          <a:xfrm rot="0" flipH="0" flipV="0">
            <a:off x="10008086" y="2995365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 fill="norm" stroke="1" extrusionOk="0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2041145590" name="Freeform 7"/>
          <p:cNvSpPr/>
          <p:nvPr/>
        </p:nvSpPr>
        <p:spPr bwMode="auto">
          <a:xfrm rot="0" flipH="0" flipV="0">
            <a:off x="12622220" y="2142670"/>
            <a:ext cx="229694" cy="3006295"/>
          </a:xfrm>
          <a:custGeom>
            <a:avLst/>
            <a:gdLst/>
            <a:ahLst/>
            <a:cxnLst/>
            <a:rect l="l" t="t" r="r" b="b"/>
            <a:pathLst>
              <a:path w="229694" h="3006296" fill="norm" stroke="1" extrusionOk="0">
                <a:moveTo>
                  <a:pt x="0" y="0"/>
                </a:moveTo>
                <a:lnTo>
                  <a:pt x="229694" y="0"/>
                </a:lnTo>
                <a:lnTo>
                  <a:pt x="22969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665377002" name="Freeform 8"/>
          <p:cNvSpPr/>
          <p:nvPr/>
        </p:nvSpPr>
        <p:spPr bwMode="auto">
          <a:xfrm rot="0" flipH="0" flipV="0">
            <a:off x="15236354" y="2995365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 fill="norm" stroke="1" extrusionOk="0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881554415" name="TextBox 9"/>
          <p:cNvSpPr txBox="1"/>
          <p:nvPr/>
        </p:nvSpPr>
        <p:spPr bwMode="auto">
          <a:xfrm rot="0">
            <a:off x="10680192" y="5476567"/>
            <a:ext cx="4041648" cy="45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Lỗi kỹ thuật / Thiếu nguồn</a:t>
            </a:r>
            <a:endParaRPr/>
          </a:p>
        </p:txBody>
      </p:sp>
      <p:sp>
        <p:nvSpPr>
          <p:cNvPr id="1069241068" name="TextBox 10"/>
          <p:cNvSpPr txBox="1"/>
          <p:nvPr/>
        </p:nvSpPr>
        <p:spPr bwMode="auto">
          <a:xfrm rot="0">
            <a:off x="11228832" y="6587563"/>
            <a:ext cx="2962656" cy="459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Cảnh báo thống kê</a:t>
            </a:r>
            <a:endParaRPr/>
          </a:p>
        </p:txBody>
      </p:sp>
      <p:sp>
        <p:nvSpPr>
          <p:cNvPr id="742196234" name="TextBox 11"/>
          <p:cNvSpPr txBox="1"/>
          <p:nvPr/>
        </p:nvSpPr>
        <p:spPr bwMode="auto">
          <a:xfrm rot="0">
            <a:off x="11356848" y="7981949"/>
            <a:ext cx="2670048" cy="46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  <a:defRPr/>
            </a:pPr>
            <a:r>
              <a:rPr lang="en-US" sz="2700">
                <a:solidFill>
                  <a:srgbClr val="FFFFFF"/>
                </a:solidFill>
                <a:latin typeface="Muli"/>
                <a:ea typeface="Muli"/>
                <a:cs typeface="Muli"/>
              </a:rPr>
              <a:t>Dải giá trị hợp lệ</a:t>
            </a:r>
            <a:endParaRPr/>
          </a:p>
        </p:txBody>
      </p:sp>
      <p:sp>
        <p:nvSpPr>
          <p:cNvPr id="1070135043" name="TextBox 12"/>
          <p:cNvSpPr txBox="1"/>
          <p:nvPr/>
        </p:nvSpPr>
        <p:spPr bwMode="auto">
          <a:xfrm rot="0">
            <a:off x="8522208" y="7720830"/>
            <a:ext cx="566928" cy="48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6"/>
              </a:lnSpc>
              <a:defRPr/>
            </a:pPr>
            <a:r>
              <a:rPr lang="en-US" sz="2850" b="1">
                <a:solidFill>
                  <a:srgbClr val="42C0A8"/>
                </a:solidFill>
                <a:latin typeface="Muli Bold"/>
                <a:ea typeface="Muli Bold"/>
                <a:cs typeface="Muli Bold"/>
              </a:rPr>
              <a:t>1%</a:t>
            </a:r>
            <a:endParaRPr/>
          </a:p>
        </p:txBody>
      </p:sp>
      <p:sp>
        <p:nvSpPr>
          <p:cNvPr id="1513555430" name="TextBox 13"/>
          <p:cNvSpPr txBox="1"/>
          <p:nvPr/>
        </p:nvSpPr>
        <p:spPr bwMode="auto">
          <a:xfrm rot="0">
            <a:off x="16056864" y="7664161"/>
            <a:ext cx="950976" cy="5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5"/>
              </a:lnSpc>
              <a:defRPr/>
            </a:pPr>
            <a:r>
              <a:rPr lang="en-US" sz="3450" b="1">
                <a:solidFill>
                  <a:srgbClr val="42C0A8"/>
                </a:solidFill>
                <a:latin typeface="Muli Bold"/>
                <a:ea typeface="Muli Bold"/>
                <a:cs typeface="Muli Bold"/>
              </a:rPr>
              <a:t>99%</a:t>
            </a:r>
            <a:endParaRPr/>
          </a:p>
        </p:txBody>
      </p:sp>
      <p:sp>
        <p:nvSpPr>
          <p:cNvPr id="1512228073" name="TextBox 14"/>
          <p:cNvSpPr txBox="1"/>
          <p:nvPr/>
        </p:nvSpPr>
        <p:spPr bwMode="auto">
          <a:xfrm rot="0">
            <a:off x="658368" y="3588668"/>
            <a:ext cx="6516190" cy="3736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42C0A8"/>
                </a:solidFill>
                <a:latin typeface="Muli"/>
                <a:ea typeface="Muli"/>
                <a:cs typeface="Muli"/>
              </a:rPr>
              <a:t>Tách biệt </a:t>
            </a: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lỗi ký thuật và giá trị bất thường</a:t>
            </a:r>
            <a:endParaRPr/>
          </a:p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để bảo toàn tính </a:t>
            </a:r>
            <a:r>
              <a:rPr lang="en-US" sz="2650">
                <a:solidFill>
                  <a:srgbClr val="42C0A8"/>
                </a:solidFill>
                <a:latin typeface="Muli"/>
                <a:ea typeface="Muli"/>
                <a:cs typeface="Muli"/>
              </a:rPr>
              <a:t>toàn vẹn</a:t>
            </a: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 dữ liệu.</a:t>
            </a:r>
            <a:endParaRPr/>
          </a:p>
          <a:p>
            <a:pPr algn="l">
              <a:lnSpc>
                <a:spcPts val="3712"/>
              </a:lnSpc>
              <a:defRPr/>
            </a:pPr>
            <a:endParaRPr lang="en-US" sz="2650">
              <a:solidFill>
                <a:srgbClr val="FFFFFF"/>
              </a:solidFill>
              <a:latin typeface="Muli"/>
              <a:ea typeface="Muli"/>
              <a:cs typeface="Muli"/>
            </a:endParaRPr>
          </a:p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Chặn bằng </a:t>
            </a:r>
            <a:r>
              <a:rPr lang="en-US" sz="2650">
                <a:solidFill>
                  <a:srgbClr val="42C0A8"/>
                </a:solidFill>
                <a:latin typeface="Muli"/>
                <a:ea typeface="Muli"/>
                <a:cs typeface="Muli"/>
              </a:rPr>
              <a:t>rule-based bắt buộc</a:t>
            </a: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,</a:t>
            </a:r>
            <a:endParaRPr/>
          </a:p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thống kê chỉ cảnh báo.</a:t>
            </a:r>
            <a:endParaRPr/>
          </a:p>
          <a:p>
            <a:pPr algn="l">
              <a:lnSpc>
                <a:spcPts val="3712"/>
              </a:lnSpc>
              <a:defRPr/>
            </a:pPr>
            <a:endParaRPr lang="en-US" sz="2650">
              <a:solidFill>
                <a:srgbClr val="FFFFFF"/>
              </a:solidFill>
              <a:latin typeface="Muli"/>
              <a:ea typeface="Muli"/>
              <a:cs typeface="Muli"/>
            </a:endParaRPr>
          </a:p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Xử lý đồng nhất </a:t>
            </a:r>
            <a:r>
              <a:rPr lang="en-US" sz="2650">
                <a:solidFill>
                  <a:srgbClr val="42C0A8"/>
                </a:solidFill>
                <a:latin typeface="Muli"/>
                <a:ea typeface="Muli"/>
                <a:cs typeface="Muli"/>
              </a:rPr>
              <a:t>đa cấu hình game</a:t>
            </a: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 —</a:t>
            </a:r>
            <a:endParaRPr/>
          </a:p>
          <a:p>
            <a:pPr algn="l">
              <a:lnSpc>
                <a:spcPts val="3712"/>
              </a:lnSpc>
              <a:defRPr/>
            </a:pPr>
            <a:r>
              <a:rPr lang="en-US" sz="2650">
                <a:solidFill>
                  <a:srgbClr val="FFFFFF"/>
                </a:solidFill>
                <a:latin typeface="Muli"/>
                <a:ea typeface="Muli"/>
                <a:cs typeface="Muli"/>
              </a:rPr>
              <a:t>chuẩn hóa điểm số trước khi hợp nhất.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8821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859673411" name="TextBox 3"/>
          <p:cNvSpPr txBox="1"/>
          <p:nvPr/>
        </p:nvSpPr>
        <p:spPr bwMode="auto">
          <a:xfrm rot="0">
            <a:off x="658368" y="811976"/>
            <a:ext cx="8412480" cy="190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4"/>
              </a:lnSpc>
              <a:defRPr/>
            </a:pPr>
            <a:r>
              <a:rPr lang="en-US" sz="6850" b="1" spc="-137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Bảo toàn missing</a:t>
            </a:r>
            <a:endParaRPr/>
          </a:p>
          <a:p>
            <a:pPr algn="l">
              <a:lnSpc>
                <a:spcPts val="7414"/>
              </a:lnSpc>
              <a:defRPr/>
            </a:pPr>
            <a:r>
              <a:rPr lang="en-US" sz="6850" b="1" spc="-137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và hành vi thị trường</a:t>
            </a:r>
            <a:endParaRPr/>
          </a:p>
        </p:txBody>
      </p:sp>
      <p:sp>
        <p:nvSpPr>
          <p:cNvPr id="485541036" name="Freeform 4"/>
          <p:cNvSpPr/>
          <p:nvPr/>
        </p:nvSpPr>
        <p:spPr bwMode="auto">
          <a:xfrm rot="0" flipH="0" flipV="0">
            <a:off x="645330" y="2776725"/>
            <a:ext cx="1104718" cy="448211"/>
          </a:xfrm>
          <a:custGeom>
            <a:avLst/>
            <a:gdLst/>
            <a:ahLst/>
            <a:cxnLst/>
            <a:rect l="l" t="t" r="r" b="b"/>
            <a:pathLst>
              <a:path w="1104718" h="448211" fill="norm" stroke="1" extrusionOk="0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2123781092" name="Freeform 5"/>
          <p:cNvSpPr/>
          <p:nvPr/>
        </p:nvSpPr>
        <p:spPr bwMode="auto">
          <a:xfrm rot="0" flipH="0" flipV="0">
            <a:off x="8487732" y="2350377"/>
            <a:ext cx="9373694" cy="7302567"/>
          </a:xfrm>
          <a:custGeom>
            <a:avLst/>
            <a:gdLst/>
            <a:ahLst/>
            <a:cxnLst/>
            <a:rect l="l" t="t" r="r" b="b"/>
            <a:pathLst>
              <a:path w="9373694" h="7302567" fill="norm" stroke="1" extrusionOk="0">
                <a:moveTo>
                  <a:pt x="0" y="0"/>
                </a:moveTo>
                <a:lnTo>
                  <a:pt x="9373694" y="0"/>
                </a:lnTo>
                <a:lnTo>
                  <a:pt x="9373694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801107991" name="TextBox 6"/>
          <p:cNvSpPr txBox="1"/>
          <p:nvPr/>
        </p:nvSpPr>
        <p:spPr bwMode="auto">
          <a:xfrm rot="0">
            <a:off x="658368" y="3614511"/>
            <a:ext cx="6931152" cy="5397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3"/>
              </a:lnSpc>
              <a:defRPr/>
            </a:pP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Không biến missing</a:t>
            </a: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 thành </a:t>
            </a: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0</a:t>
            </a:r>
            <a:endParaRPr/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giữ nguyên ý nghĩa dữ liệu gốc.</a:t>
            </a:r>
            <a:endParaRPr/>
          </a:p>
          <a:p>
            <a:pPr algn="l">
              <a:lnSpc>
                <a:spcPts val="3903"/>
              </a:lnSpc>
              <a:defRPr/>
            </a:pPr>
            <a:endParaRPr lang="en-US" sz="2800">
              <a:solidFill>
                <a:srgbClr val="FFFFFF"/>
              </a:solidFill>
              <a:latin typeface="Muli"/>
              <a:ea typeface="Muli"/>
              <a:cs typeface="Muli"/>
            </a:endParaRPr>
          </a:p>
          <a:p>
            <a:pPr algn="l">
              <a:lnSpc>
                <a:spcPts val="3903"/>
              </a:lnSpc>
              <a:defRPr/>
            </a:pP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PASS</a:t>
            </a: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 và </a:t>
            </a: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reward 0</a:t>
            </a: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 là giá trị chiến thuật,</a:t>
            </a:r>
            <a:endParaRPr/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được nhận diện, không xem là lỗi.</a:t>
            </a:r>
            <a:endParaRPr/>
          </a:p>
          <a:p>
            <a:pPr algn="l">
              <a:lnSpc>
                <a:spcPts val="3903"/>
              </a:lnSpc>
              <a:defRPr/>
            </a:pPr>
            <a:endParaRPr lang="en-US" sz="2800">
              <a:solidFill>
                <a:srgbClr val="FFFFFF"/>
              </a:solidFill>
              <a:latin typeface="Muli"/>
              <a:ea typeface="Muli"/>
              <a:cs typeface="Muli"/>
            </a:endParaRPr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Lệnh thị trường </a:t>
            </a: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không số lượng</a:t>
            </a:r>
            <a:endParaRPr/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được phân loại riêng, không gán 0 giả tạo.</a:t>
            </a:r>
            <a:endParaRPr/>
          </a:p>
          <a:p>
            <a:pPr algn="l">
              <a:lnSpc>
                <a:spcPts val="3903"/>
              </a:lnSpc>
              <a:defRPr/>
            </a:pPr>
            <a:endParaRPr lang="en-US" sz="2800">
              <a:solidFill>
                <a:srgbClr val="FFFFFF"/>
              </a:solidFill>
              <a:latin typeface="Muli"/>
              <a:ea typeface="Muli"/>
              <a:cs typeface="Muli"/>
            </a:endParaRPr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Lệch bước ghi log được </a:t>
            </a:r>
            <a:r>
              <a:rPr lang="en-US" sz="2800" b="1">
                <a:solidFill>
                  <a:srgbClr val="16F2B4"/>
                </a:solidFill>
                <a:latin typeface="Muli Bold"/>
                <a:ea typeface="Muli Bold"/>
                <a:cs typeface="Muli Bold"/>
              </a:rPr>
              <a:t>ghi riêng</a:t>
            </a:r>
            <a:endParaRPr/>
          </a:p>
          <a:p>
            <a:pPr algn="l">
              <a:lnSpc>
                <a:spcPts val="3903"/>
              </a:lnSpc>
              <a:defRPr/>
            </a:pPr>
            <a:r>
              <a:rPr lang="en-US" sz="2800">
                <a:solidFill>
                  <a:srgbClr val="FFFFFF"/>
                </a:solidFill>
                <a:latin typeface="Muli"/>
                <a:ea typeface="Muli"/>
                <a:cs typeface="Muli"/>
              </a:rPr>
              <a:t>không làm biến dạng dữ liệu.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04815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864975956" name="TextBox 3"/>
          <p:cNvSpPr txBox="1"/>
          <p:nvPr/>
        </p:nvSpPr>
        <p:spPr bwMode="auto">
          <a:xfrm rot="0">
            <a:off x="566928" y="639302"/>
            <a:ext cx="8138160" cy="167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8"/>
              </a:lnSpc>
              <a:defRPr/>
            </a:pPr>
            <a:r>
              <a:rPr lang="en-US" sz="6050" b="1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Truy vết audit và</a:t>
            </a:r>
            <a:endParaRPr/>
          </a:p>
          <a:p>
            <a:pPr algn="l">
              <a:lnSpc>
                <a:spcPts val="6558"/>
              </a:lnSpc>
              <a:defRPr/>
            </a:pPr>
            <a:r>
              <a:rPr lang="en-US" sz="6050" b="1">
                <a:solidFill>
                  <a:srgbClr val="FFFFFF"/>
                </a:solidFill>
                <a:latin typeface="Muli Bold"/>
                <a:ea typeface="Muli Bold"/>
                <a:cs typeface="Muli Bold"/>
              </a:rPr>
              <a:t>tác động downstream</a:t>
            </a:r>
            <a:endParaRPr/>
          </a:p>
        </p:txBody>
      </p:sp>
      <p:sp>
        <p:nvSpPr>
          <p:cNvPr id="2088108193" name="TextBox 4"/>
          <p:cNvSpPr txBox="1"/>
          <p:nvPr/>
        </p:nvSpPr>
        <p:spPr bwMode="auto">
          <a:xfrm rot="0">
            <a:off x="566928" y="2583675"/>
            <a:ext cx="6620255" cy="8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7"/>
              </a:lnSpc>
              <a:defRPr/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</a:rPr>
              <a:t>Đảm bảo khả năng truy vết xử lý và đánh giá</a:t>
            </a:r>
            <a:endParaRPr/>
          </a:p>
          <a:p>
            <a:pPr algn="l">
              <a:lnSpc>
                <a:spcPts val="3617"/>
              </a:lnSpc>
              <a:defRPr/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</a:rPr>
              <a:t>ảnh hưởng tới kết quả phân tích cuối cùng.</a:t>
            </a:r>
            <a:endParaRPr/>
          </a:p>
        </p:txBody>
      </p:sp>
      <p:sp>
        <p:nvSpPr>
          <p:cNvPr id="1661697900" name="TextBox 5"/>
          <p:cNvSpPr txBox="1"/>
          <p:nvPr/>
        </p:nvSpPr>
        <p:spPr bwMode="auto">
          <a:xfrm rot="0">
            <a:off x="566928" y="4143814"/>
            <a:ext cx="1975104" cy="78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1"/>
              </a:lnSpc>
              <a:defRPr/>
            </a:pPr>
            <a:r>
              <a:rPr lang="en-US" sz="58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4.016</a:t>
            </a:r>
            <a:endParaRPr/>
          </a:p>
        </p:txBody>
      </p:sp>
      <p:sp>
        <p:nvSpPr>
          <p:cNvPr id="1085547862" name="TextBox 6"/>
          <p:cNvSpPr txBox="1"/>
          <p:nvPr/>
        </p:nvSpPr>
        <p:spPr bwMode="auto">
          <a:xfrm rot="0">
            <a:off x="566928" y="4962910"/>
            <a:ext cx="3438144" cy="130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  <a:defRPr/>
            </a:pP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lượt cờ và quyết định loại được lưu trong </a:t>
            </a:r>
            <a:r>
              <a:rPr lang="en-US" sz="25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traceability.csv</a:t>
            </a:r>
            <a:endParaRPr/>
          </a:p>
        </p:txBody>
      </p:sp>
      <p:sp>
        <p:nvSpPr>
          <p:cNvPr id="1967648709" name="Freeform 7"/>
          <p:cNvSpPr/>
          <p:nvPr/>
        </p:nvSpPr>
        <p:spPr bwMode="auto">
          <a:xfrm rot="0" flipH="0" flipV="0">
            <a:off x="4353244" y="3848060"/>
            <a:ext cx="218756" cy="2590881"/>
          </a:xfrm>
          <a:custGeom>
            <a:avLst/>
            <a:gdLst/>
            <a:ahLst/>
            <a:cxnLst/>
            <a:rect l="l" t="t" r="r" b="b"/>
            <a:pathLst>
              <a:path w="218756" h="2590881" fill="norm" stroke="1" extrusionOk="0">
                <a:moveTo>
                  <a:pt x="0" y="0"/>
                </a:moveTo>
                <a:lnTo>
                  <a:pt x="218756" y="0"/>
                </a:lnTo>
                <a:lnTo>
                  <a:pt x="21875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662663959" name="TextBox 8"/>
          <p:cNvSpPr txBox="1"/>
          <p:nvPr/>
        </p:nvSpPr>
        <p:spPr bwMode="auto">
          <a:xfrm rot="0">
            <a:off x="4846320" y="4143284"/>
            <a:ext cx="1353312" cy="78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  <a:defRPr/>
            </a:pPr>
            <a:r>
              <a:rPr lang="en-US" sz="590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367</a:t>
            </a:r>
            <a:endParaRPr/>
          </a:p>
        </p:txBody>
      </p:sp>
      <p:sp>
        <p:nvSpPr>
          <p:cNvPr id="647766543" name="TextBox 9"/>
          <p:cNvSpPr txBox="1"/>
          <p:nvPr/>
        </p:nvSpPr>
        <p:spPr bwMode="auto">
          <a:xfrm rot="0">
            <a:off x="4846320" y="4962910"/>
            <a:ext cx="3694176" cy="130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  <a:defRPr/>
            </a:pP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episode thiếu replay </a:t>
            </a:r>
            <a:r>
              <a:rPr lang="en-US" sz="25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JSON</a:t>
            </a:r>
            <a:r>
              <a:rPr lang="en-US" sz="2550">
                <a:solidFill>
                  <a:srgbClr val="FFFFFF"/>
                </a:solidFill>
                <a:latin typeface="Muli"/>
                <a:ea typeface="Muli"/>
                <a:cs typeface="Muli"/>
              </a:rPr>
              <a:t> được audit cấp episode, loại tại cấp lượt</a:t>
            </a:r>
            <a:endParaRPr/>
          </a:p>
        </p:txBody>
      </p:sp>
      <p:sp>
        <p:nvSpPr>
          <p:cNvPr id="1959959642" name="Freeform 10"/>
          <p:cNvSpPr/>
          <p:nvPr/>
        </p:nvSpPr>
        <p:spPr bwMode="auto">
          <a:xfrm rot="0" flipH="0" flipV="0">
            <a:off x="426574" y="6635716"/>
            <a:ext cx="8509608" cy="229572"/>
          </a:xfrm>
          <a:custGeom>
            <a:avLst/>
            <a:gdLst/>
            <a:ahLst/>
            <a:cxnLst/>
            <a:rect l="l" t="t" r="r" b="b"/>
            <a:pathLst>
              <a:path w="8509608" h="229572" fill="norm" stroke="1" extrusionOk="0">
                <a:moveTo>
                  <a:pt x="0" y="0"/>
                </a:moveTo>
                <a:lnTo>
                  <a:pt x="8509608" y="0"/>
                </a:lnTo>
                <a:lnTo>
                  <a:pt x="850960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907160696" name="TextBox 11"/>
          <p:cNvSpPr txBox="1"/>
          <p:nvPr/>
        </p:nvSpPr>
        <p:spPr bwMode="auto">
          <a:xfrm rot="0">
            <a:off x="566928" y="7298367"/>
            <a:ext cx="3694176" cy="110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  <a:defRPr/>
            </a:pPr>
            <a:r>
              <a:rPr lang="en-US" sz="21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So sánh thứ hạng avg_score </a:t>
            </a:r>
            <a:r>
              <a:rPr lang="en-US" sz="2150">
                <a:solidFill>
                  <a:srgbClr val="FFFFFF"/>
                </a:solidFill>
                <a:latin typeface="Muli"/>
                <a:ea typeface="Muli"/>
                <a:cs typeface="Muli"/>
              </a:rPr>
              <a:t>trước/sau làm sạch trên 300 episode replay </a:t>
            </a:r>
            <a:r>
              <a:rPr lang="en-US" sz="21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JSON</a:t>
            </a:r>
            <a:endParaRPr/>
          </a:p>
        </p:txBody>
      </p:sp>
      <p:sp>
        <p:nvSpPr>
          <p:cNvPr id="542063385" name="Freeform 12"/>
          <p:cNvSpPr/>
          <p:nvPr/>
        </p:nvSpPr>
        <p:spPr bwMode="auto">
          <a:xfrm rot="0" flipH="0" flipV="0">
            <a:off x="4353244" y="7062064"/>
            <a:ext cx="218756" cy="2590881"/>
          </a:xfrm>
          <a:custGeom>
            <a:avLst/>
            <a:gdLst/>
            <a:ahLst/>
            <a:cxnLst/>
            <a:rect l="l" t="t" r="r" b="b"/>
            <a:pathLst>
              <a:path w="218756" h="2590881" fill="norm" stroke="1" extrusionOk="0">
                <a:moveTo>
                  <a:pt x="0" y="0"/>
                </a:moveTo>
                <a:lnTo>
                  <a:pt x="218756" y="0"/>
                </a:lnTo>
                <a:lnTo>
                  <a:pt x="21875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896901089" name="TextBox 13"/>
          <p:cNvSpPr txBox="1"/>
          <p:nvPr/>
        </p:nvSpPr>
        <p:spPr bwMode="auto">
          <a:xfrm rot="0">
            <a:off x="4846320" y="7278866"/>
            <a:ext cx="1078992" cy="30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6"/>
              </a:lnSpc>
              <a:defRPr/>
            </a:pPr>
            <a:r>
              <a:rPr lang="en-US" sz="230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Kết quả</a:t>
            </a:r>
            <a:endParaRPr/>
          </a:p>
        </p:txBody>
      </p:sp>
      <p:sp>
        <p:nvSpPr>
          <p:cNvPr id="806870383" name="TextBox 14"/>
          <p:cNvSpPr txBox="1"/>
          <p:nvPr/>
        </p:nvSpPr>
        <p:spPr bwMode="auto">
          <a:xfrm rot="0">
            <a:off x="4846320" y="7712336"/>
            <a:ext cx="566928" cy="98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8"/>
              </a:lnSpc>
              <a:defRPr/>
            </a:pPr>
            <a:r>
              <a:rPr lang="en-US" sz="7350" b="1">
                <a:solidFill>
                  <a:srgbClr val="64CBBD"/>
                </a:solidFill>
                <a:latin typeface="Muli Bold"/>
                <a:ea typeface="Muli Bold"/>
                <a:cs typeface="Muli Bold"/>
              </a:rPr>
              <a:t>0</a:t>
            </a:r>
            <a:endParaRPr/>
          </a:p>
        </p:txBody>
      </p:sp>
      <p:sp>
        <p:nvSpPr>
          <p:cNvPr id="1416719950" name="TextBox 15"/>
          <p:cNvSpPr txBox="1"/>
          <p:nvPr/>
        </p:nvSpPr>
        <p:spPr bwMode="auto">
          <a:xfrm rot="0">
            <a:off x="4846320" y="8692994"/>
            <a:ext cx="3986784" cy="71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  <a:defRPr/>
            </a:pPr>
            <a:r>
              <a:rPr lang="en-US" sz="2100">
                <a:solidFill>
                  <a:srgbClr val="FFFFFF"/>
                </a:solidFill>
                <a:latin typeface="Muli"/>
                <a:ea typeface="Muli"/>
                <a:cs typeface="Muli"/>
              </a:rPr>
              <a:t>thứ hạng bị thay đổi</a:t>
            </a:r>
            <a:endParaRPr/>
          </a:p>
          <a:p>
            <a:pPr algn="l">
              <a:lnSpc>
                <a:spcPts val="2882"/>
              </a:lnSpc>
              <a:defRPr/>
            </a:pPr>
            <a:r>
              <a:rPr lang="en-US" sz="2100">
                <a:solidFill>
                  <a:srgbClr val="FFFFFF"/>
                </a:solidFill>
                <a:latin typeface="Muli"/>
                <a:ea typeface="Muli"/>
                <a:cs typeface="Muli"/>
              </a:rPr>
              <a:t>làm sạch không bóp méo dữ liệu</a:t>
            </a:r>
            <a:endParaRPr/>
          </a:p>
        </p:txBody>
      </p:sp>
      <p:sp>
        <p:nvSpPr>
          <p:cNvPr id="592476653" name="Freeform 16"/>
          <p:cNvSpPr/>
          <p:nvPr/>
        </p:nvSpPr>
        <p:spPr bwMode="auto">
          <a:xfrm rot="0" flipH="0" flipV="0">
            <a:off x="9144000" y="1279043"/>
            <a:ext cx="8936182" cy="8581610"/>
          </a:xfrm>
          <a:custGeom>
            <a:avLst/>
            <a:gdLst/>
            <a:ahLst/>
            <a:cxnLst/>
            <a:rect l="l" t="t" r="r" b="b"/>
            <a:pathLst>
              <a:path w="8936182" h="8581610" fill="norm" stroke="1" extrusionOk="0">
                <a:moveTo>
                  <a:pt x="0" y="0"/>
                </a:moveTo>
                <a:lnTo>
                  <a:pt x="8936182" y="0"/>
                </a:lnTo>
                <a:lnTo>
                  <a:pt x="8936182" y="8581609"/>
                </a:lnTo>
                <a:lnTo>
                  <a:pt x="0" y="8581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dữ liệu đa nguồn</dc:title>
  <dc:identifier>DAHWSaYK_tg</dc:identifier>
  <cp:lastModifiedBy/>
  <cp:revision>2</cp:revision>
  <dcterms:created xsi:type="dcterms:W3CDTF">2006-08-16T00:00:00Z</dcterms:created>
  <dcterms:modified xsi:type="dcterms:W3CDTF">2026-09-26T09:37:09Z</dcterms:modified>
</cp:coreProperties>
</file>